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Lato"/>
      <p:regular r:id="rId14"/>
      <p:bold r:id="rId15"/>
      <p:italic r:id="rId16"/>
      <p:boldItalic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Poppins SemiBold"/>
      <p:regular r:id="rId22"/>
      <p:bold r:id="rId23"/>
      <p:italic r:id="rId24"/>
      <p:boldItalic r:id="rId25"/>
    </p:embeddedFont>
    <p:embeddedFont>
      <p:font typeface="Poppins ExtraBold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iG5JNWe2Kg7bqwaHfOVnvEnPTn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PoppinsSemiBold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PoppinsSemiBold-italic.fntdata"/><Relationship Id="rId23" Type="http://schemas.openxmlformats.org/officeDocument/2006/relationships/font" Target="fonts/Poppi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ExtraBold-bold.fntdata"/><Relationship Id="rId25" Type="http://schemas.openxmlformats.org/officeDocument/2006/relationships/font" Target="fonts/PoppinsSemiBold-boldItalic.fntdata"/><Relationship Id="rId28" Type="http://customschemas.google.com/relationships/presentationmetadata" Target="metadata"/><Relationship Id="rId27" Type="http://schemas.openxmlformats.org/officeDocument/2006/relationships/font" Target="fonts/Poppins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25.png"/><Relationship Id="rId13" Type="http://schemas.openxmlformats.org/officeDocument/2006/relationships/image" Target="../media/image28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image" Target="../media/image6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40.png"/><Relationship Id="rId8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32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2" y="1669702"/>
            <a:ext cx="2619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6337" y="1774477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47900" y="4454723"/>
            <a:ext cx="6096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8900" y="4454723"/>
            <a:ext cx="5715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3000375" y="4535685"/>
            <a:ext cx="240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Alan Cruz</a:t>
            </a:r>
            <a:endParaRPr b="1" sz="13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000375" y="4745235"/>
            <a:ext cx="240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Director de Proyecto</a:t>
            </a:r>
            <a:endParaRPr sz="105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153275" y="4535685"/>
            <a:ext cx="23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Jonatan Gordillo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153275" y="4745235"/>
            <a:ext cx="2305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Desarrollador y QA</a:t>
            </a:r>
            <a:endParaRPr sz="105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110751" y="2241202"/>
            <a:ext cx="3970496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FerreMundo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286000" y="3054548"/>
            <a:ext cx="762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Solución digital para la gestión y venta de productos de ferretería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5740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419850"/>
            <a:ext cx="11049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571500" y="65246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FerreMundo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334625" y="6524625"/>
            <a:ext cx="1285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Contexto &amp; Oportunidad</a:t>
            </a:r>
            <a:endParaRPr/>
          </a:p>
        </p:txBody>
      </p:sp>
      <p:pic>
        <p:nvPicPr>
          <p:cNvPr descr="image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206692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1095375" y="2331243"/>
            <a:ext cx="48101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Ferreterías Tradicionales: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Comercio fuertemente dependiente de la venta presencial y procesos manuales de control de inventario.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095375" y="3355181"/>
            <a:ext cx="48101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Necesidad de Digitalización: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 sector PYME requiere adaptarse urgentemente al comercio electrónico y solicitudes en línea.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95375" y="4379118"/>
            <a:ext cx="48101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La Idea de FerreMundo: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Crear una solución accesible que unifique la gestión interna de stock con ventas en línea locales y rápidas.</a:t>
            </a:r>
            <a:endParaRPr/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34553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93406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Contexto del Sector Ferretero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19850"/>
            <a:ext cx="11049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571500" y="65246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FerreMundo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10306050" y="6524625"/>
            <a:ext cx="1314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Problemática Identificada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095375" y="2738437"/>
            <a:ext cx="10525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¿Qué situación se identificó?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Falta de catálogo digital actualizado, alta tasa de quiebres de stock no detectados a tiempo y pérdida de clientes por tiempos lentos en atención y cotizaciones.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095375" y="3490912"/>
            <a:ext cx="10525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¿A quién afecta directamente?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Afecta a dueños de ferreterías PYME (pérdida de competitividad), maestros de obra y constructores (demoras en insumos) y clientes finales (falta de transparencia en precios y stock).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095375" y="4243387"/>
            <a:ext cx="10525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¿Por qué es necesario abordarla?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grandes cadenas de retail absorben la cuota de mercado. Digitalizar la ferretería de barrio es vital para su supervivencia comercial y desarrollo tecnológico local.</a:t>
            </a:r>
            <a:endParaRPr/>
          </a:p>
        </p:txBody>
      </p:sp>
      <p:pic>
        <p:nvPicPr>
          <p:cNvPr descr="image.png" id="123" name="Google Shape;1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527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520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576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Planteamiento del Problema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41377"/>
            <a:ext cx="5286375" cy="146476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 txBox="1"/>
          <p:nvPr/>
        </p:nvSpPr>
        <p:spPr>
          <a:xfrm>
            <a:off x="571500" y="1751707"/>
            <a:ext cx="555069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Solución y Propuesta de Valor</a:t>
            </a:r>
            <a:endParaRPr/>
          </a:p>
        </p:txBody>
      </p:sp>
      <p:pic>
        <p:nvPicPr>
          <p:cNvPr descr="image.png" id="135" name="Google Shape;1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2881312" y="2051744"/>
            <a:ext cx="66675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571500" y="2628007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FerreMundo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una plataforma integral constituida por un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sistema web administrativo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una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aplicación móvil intuitiva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clientes y compradores.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800100" y="3784252"/>
            <a:ext cx="511063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Beneficios Clave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800100" y="4231927"/>
            <a:ext cx="4867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Catálogo de productos, consulta por categorías y un proceso de compra digital para facilitar la adquisición de productos de ferretería.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8875"/>
            <a:ext cx="533400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28875"/>
            <a:ext cx="533400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419850"/>
            <a:ext cx="11049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571500" y="65246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FerreMundo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10639425" y="6524625"/>
            <a:ext cx="9810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Metas del Proyecto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914400" y="2800350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General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914400" y="3248025"/>
            <a:ext cx="4648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Desarrollar e implementar el ecosistema digital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FerreMundo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(Web + App Móvil) para optimizar la gestión de inventarios y habilitar un canal de ventas omnicanal en ferreterías</a:t>
            </a: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6629400" y="2800350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Específicos</a:t>
            </a:r>
            <a:endParaRPr/>
          </a:p>
        </p:txBody>
      </p:sp>
      <p:pic>
        <p:nvPicPr>
          <p:cNvPr descr="image.png" id="153" name="Google Shape;1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8479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8479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6629400" y="3248025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Diseñar la arquitectura del sistema web y la interfaz móvil intuitiva.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6629400" y="3590925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Implementar módulo de control de stock y catálogo de productos en tiempo real.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6629400" y="4162425"/>
            <a:ext cx="464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Incorporar un sistema de carrito y compra que facilite la adquisición de productos. 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6629400" y="4733925"/>
            <a:ext cx="464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Validar la solución mediante pruebas funcionales antes de su implementación. </a:t>
            </a:r>
            <a:endParaRPr/>
          </a:p>
        </p:txBody>
      </p:sp>
      <p:pic>
        <p:nvPicPr>
          <p:cNvPr descr="image.png" id="159" name="Google Shape;15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32861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36290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42005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477202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9837"/>
            <a:ext cx="3492549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09837"/>
            <a:ext cx="3492549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09837"/>
            <a:ext cx="3492549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419850"/>
            <a:ext cx="11049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 txBox="1"/>
          <p:nvPr/>
        </p:nvSpPr>
        <p:spPr>
          <a:xfrm>
            <a:off x="571500" y="65246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FerreMundo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7086600" y="6524625"/>
            <a:ext cx="4533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Justificación: Modelo lineal óptimo para un cronograma académico acotado de 18 semanas</a:t>
            </a:r>
            <a:endParaRPr/>
          </a:p>
        </p:txBody>
      </p:sp>
      <p:pic>
        <p:nvPicPr>
          <p:cNvPr descr="image.png" id="176" name="Google Shape;17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8051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866775" y="3567112"/>
            <a:ext cx="25403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Requisitos y Diseño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866775" y="4014787"/>
            <a:ext cx="290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Definición clara y acotada del alcance funcional, modelado de base de datos y prototipado UI/UX antes de iniciar codificación.</a:t>
            </a:r>
            <a:endParaRPr/>
          </a:p>
        </p:txBody>
      </p:sp>
      <p:pic>
        <p:nvPicPr>
          <p:cNvPr descr="image.png" id="179" name="Google Shape;17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5074" y="28051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 txBox="1"/>
          <p:nvPr/>
        </p:nvSpPr>
        <p:spPr>
          <a:xfrm>
            <a:off x="4645074" y="3567112"/>
            <a:ext cx="291036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Desarrollo Secuencial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4645074" y="401478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Construcción por etapas estructuradas: backend API REST, módulo web de administración y finalmente aplicación móvil.</a:t>
            </a:r>
            <a:endParaRPr/>
          </a:p>
        </p:txBody>
      </p:sp>
      <p:pic>
        <p:nvPicPr>
          <p:cNvPr descr="image.png" id="182" name="Google Shape;18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3374" y="28051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8423374" y="3567112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Pruebas y Despliegue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8423374" y="4014787"/>
            <a:ext cx="290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Verificación integral de requisitos, corrección de errores, pruebas de integración y entrega del producto final funcional.</a:t>
            </a:r>
            <a:endParaRPr/>
          </a:p>
        </p:txBody>
      </p:sp>
      <p:pic>
        <p:nvPicPr>
          <p:cNvPr descr="image.png" id="185" name="Google Shape;185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2512" y="295751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64137" y="295751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75774" y="29575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Metodología Waterfall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8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33775"/>
            <a:ext cx="11049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38575"/>
            <a:ext cx="2541240" cy="1274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7419" y="2179439"/>
            <a:ext cx="2541240" cy="1087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3339" y="3838575"/>
            <a:ext cx="2541240" cy="1274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79259" y="2179439"/>
            <a:ext cx="2541240" cy="1087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419850"/>
            <a:ext cx="11049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 txBox="1"/>
          <p:nvPr/>
        </p:nvSpPr>
        <p:spPr>
          <a:xfrm>
            <a:off x="571500" y="65246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FerreMundo</a:t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10439400" y="6524625"/>
            <a:ext cx="1181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Cronograma de Trabajo</a:t>
            </a:r>
            <a:endParaRPr/>
          </a:p>
        </p:txBody>
      </p:sp>
      <p:pic>
        <p:nvPicPr>
          <p:cNvPr descr="image.png" id="203" name="Google Shape;20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57483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1104900" y="5629275"/>
            <a:ext cx="103155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Factibilidad en la Asignatura:</a:t>
            </a:r>
            <a:r>
              <a:rPr b="0" i="0" lang="en-US" sz="1125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 Plazo adecuado de 18 semanas, equipo de 2 integrantes con división clara de roles y uso de herramientas open source sin costos de licenciamiento.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717995" y="4038600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Sem 1 - 4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771525" y="4352925"/>
            <a:ext cx="21411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Análisis y Requisitos: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Levantamiento de procesos y especificación técnica.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3553915" y="2379464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Sem 5 - 8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3607444" y="2693789"/>
            <a:ext cx="214119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Diseño &amp; Arquitectura: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Prototipos Figma, modelo ER y base de datos.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6389835" y="4038600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Sem 9 - 14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6443364" y="4352925"/>
            <a:ext cx="214119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Desarrollo Web &amp; App: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Codificación backend API REST, frontend web y móvil.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9225755" y="2379464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Sem 15 - 18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9279284" y="2693789"/>
            <a:ext cx="214119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Testing &amp; Cierre: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Pruebas del sistema, ajustes y presentación final.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Factibilidad y Planificación</a:t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737345" y="3448050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573265" y="3448050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409184" y="3448050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0245104" y="3448050"/>
            <a:ext cx="209550" cy="2095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19850"/>
            <a:ext cx="11049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 txBox="1"/>
          <p:nvPr/>
        </p:nvSpPr>
        <p:spPr>
          <a:xfrm>
            <a:off x="571500" y="65246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FerreMundo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10201275" y="6524625"/>
            <a:ext cx="14192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Conclusión &amp; Competencias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1095375" y="2362200"/>
            <a:ext cx="10525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Relevancia en Ingeniería en Informática: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Aplica de forma directa ingeniería de software, arquitectura de sistemas, bases de datos y desarrollo de aplicaciones modernas.</a:t>
            </a:r>
            <a:endParaRPr/>
          </a:p>
        </p:txBody>
      </p:sp>
      <p:sp>
        <p:nvSpPr>
          <p:cNvPr id="228" name="Google Shape;228;p8"/>
          <p:cNvSpPr txBox="1"/>
          <p:nvPr/>
        </p:nvSpPr>
        <p:spPr>
          <a:xfrm>
            <a:off x="1095375" y="3114675"/>
            <a:ext cx="10525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Relación con Intereses Profesionales: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Permite profundizar en soluciones tecnológicas para la transformación digital del sector productivo y comercial.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1095375" y="3867150"/>
            <a:ext cx="105251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Competencias a Desarrollar: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Desarrollo full-stack, diseño centrado en el usuario (UX/UI), gestión de proyectos con metodología estructurada y resolución de problemas reales.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1095375" y="4619625"/>
            <a:ext cx="10525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Trabajo en Equipo y Roles: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Coordinación eficiente entre </a:t>
            </a:r>
            <a:r>
              <a:rPr lang="en-US" sz="14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Alan Cruz 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4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Jefe de Proyecto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4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Jonatan Gordillo 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4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Desarrollador y QA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</p:txBody>
      </p:sp>
      <p:pic>
        <p:nvPicPr>
          <p:cNvPr descr="image.png" id="231" name="Google Shape;23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764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28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814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3391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Cierre e Impacto Profesional</a:t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762625" y="776287"/>
            <a:ext cx="66675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